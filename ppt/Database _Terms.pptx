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84" d="100"/>
          <a:sy n="84" d="100"/>
        </p:scale>
        <p:origin x="8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2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91176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242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0167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9208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93616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084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22925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2600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8825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0328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450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81922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81820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642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4870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680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2A7790C-0994-462F-871F-E15BEAC2486A}" type="datetimeFigureOut">
              <a:rPr lang="en-IN" smtClean="0"/>
              <a:t>21-09-2025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5763050-F467-4F96-9CEC-45686B280E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50050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7A1EC-0066-C6E2-4B06-580DD8EEFA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7963"/>
            <a:ext cx="9144000" cy="2387600"/>
          </a:xfrm>
        </p:spPr>
        <p:txBody>
          <a:bodyPr/>
          <a:lstStyle/>
          <a:p>
            <a:pPr algn="l"/>
            <a:r>
              <a:rPr lang="en-IN" dirty="0"/>
              <a:t>Database Terms &amp; COMMANDS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2A0AD9-347D-C49B-0D3B-F72C889DA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162722"/>
            <a:ext cx="7197726" cy="2003638"/>
          </a:xfrm>
        </p:spPr>
        <p:txBody>
          <a:bodyPr>
            <a:norm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Data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Database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sz="2800" dirty="0"/>
              <a:t>DBMS </a:t>
            </a:r>
          </a:p>
        </p:txBody>
      </p:sp>
    </p:spTree>
    <p:extLst>
      <p:ext uri="{BB962C8B-B14F-4D97-AF65-F5344CB8AC3E}">
        <p14:creationId xmlns:p14="http://schemas.microsoft.com/office/powerpoint/2010/main" val="164997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CD1C5-B205-DD90-3859-D19E5CB6A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FAF72-10CB-B0AC-44BF-D28B4072C5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b="1" dirty="0"/>
              <a:t>Data</a:t>
            </a:r>
            <a:r>
              <a:rPr lang="en-US" sz="2800" dirty="0"/>
              <a:t> is a collection of raw facts and figures that do not have any meaning by themselves.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>
                <a:highlight>
                  <a:srgbClr val="0000FF"/>
                </a:highlight>
              </a:rPr>
              <a:t>Example: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Name: Sanchit  </a:t>
            </a:r>
          </a:p>
          <a:p>
            <a:r>
              <a:rPr lang="en-US" sz="2800" dirty="0"/>
              <a:t>Age: 2.5  </a:t>
            </a:r>
          </a:p>
          <a:p>
            <a:r>
              <a:rPr lang="en-US" sz="2800" dirty="0"/>
              <a:t>Marks: 24 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754482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40BE6-C899-FE60-F948-D1DD437F6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0000FF"/>
                </a:highlight>
              </a:rPr>
              <a:t>Database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0C197-0A74-DE5F-92DB-1DA639E2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br>
              <a:rPr lang="en-US" dirty="0"/>
            </a:br>
            <a:br>
              <a:rPr lang="en-US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272145C-80FE-5929-57F8-833958E1A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152" y="4453890"/>
            <a:ext cx="7303298" cy="13030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CAD3702-A19D-5F75-E464-A1B7B55648C7}"/>
              </a:ext>
            </a:extLst>
          </p:cNvPr>
          <p:cNvSpPr txBox="1"/>
          <p:nvPr/>
        </p:nvSpPr>
        <p:spPr>
          <a:xfrm>
            <a:off x="685801" y="2308480"/>
            <a:ext cx="892968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Database</a:t>
            </a:r>
            <a:r>
              <a:rPr lang="en-US" sz="2800" dirty="0"/>
              <a:t> is an organized collection of data that can be easily accessed, managed, and updated.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7862592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F59FD-5604-29B9-A42E-D3376AE55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DBMS (Database Management System)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9FB2C2-4D95-D08F-023B-5BB0F2670A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sz="2800" dirty="0"/>
              <a:t>A </a:t>
            </a:r>
            <a:r>
              <a:rPr lang="en-US" sz="2800" b="1" dirty="0"/>
              <a:t>DBMS</a:t>
            </a:r>
            <a:r>
              <a:rPr lang="en-US" sz="2800" dirty="0"/>
              <a:t> is software used to create, manage, and operate a database. It allows users to store, retrieve, update, and delete data efficiently.</a:t>
            </a:r>
            <a:br>
              <a:rPr lang="en-US" sz="2800" dirty="0"/>
            </a:br>
            <a:endParaRPr lang="en-US" sz="2800" dirty="0"/>
          </a:p>
          <a:p>
            <a:pPr marL="0" indent="0">
              <a:buNone/>
            </a:pPr>
            <a:r>
              <a:rPr lang="en-US" sz="2800" dirty="0">
                <a:highlight>
                  <a:srgbClr val="0000FF"/>
                </a:highlight>
              </a:rPr>
              <a:t>DBMS tools:</a:t>
            </a:r>
          </a:p>
          <a:p>
            <a:r>
              <a:rPr lang="en-US" sz="2800" dirty="0"/>
              <a:t>Oracle</a:t>
            </a:r>
          </a:p>
          <a:p>
            <a:r>
              <a:rPr lang="en-US" sz="2800" dirty="0"/>
              <a:t>MySQL</a:t>
            </a:r>
          </a:p>
          <a:p>
            <a:r>
              <a:rPr lang="en-US" sz="2800" dirty="0"/>
              <a:t>PostgreSQL</a:t>
            </a:r>
          </a:p>
          <a:p>
            <a:r>
              <a:rPr lang="en-US" sz="2800" dirty="0"/>
              <a:t>MS SQL Server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00025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DADAA-D328-A0B4-0122-0876092858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0000FF"/>
                </a:highlight>
              </a:rPr>
              <a:t>Example: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EEADDD3-5F6B-598A-9B26-6CCB0E7F253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06730" y="2527422"/>
            <a:ext cx="10667999" cy="381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Name, Age, Address, Course, Fees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Database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A table that stores all students'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2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DBMS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MySQL software used by the admin to add, update, or view student details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2729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B24E1F-70E5-9F97-37C5-B1998ADCF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Relationship Between the Three: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387CCB-75F9-E545-66DA-90FDCDEF6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0663" y="3237605"/>
            <a:ext cx="10021699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4136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0E61C-BFBC-7C23-99AF-3A66C07FE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highlight>
                  <a:srgbClr val="FF00FF"/>
                </a:highlight>
              </a:rPr>
              <a:t>Different Languages in MySQL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A9285-2076-E49C-BBD5-80FFE366E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065867"/>
            <a:ext cx="10131425" cy="364913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800" dirty="0"/>
              <a:t>MySQL uses different types of languages to interact with and manage databases.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/>
              <a:t>These languages are categorized based on their function:</a:t>
            </a:r>
            <a:br>
              <a:rPr lang="en-US" sz="2800" dirty="0"/>
            </a:br>
            <a:br>
              <a:rPr lang="en-US" sz="2800" dirty="0"/>
            </a:br>
            <a:r>
              <a:rPr lang="en-IN" sz="2800" dirty="0"/>
              <a:t>DDL   –  Data Definition Language </a:t>
            </a:r>
            <a:br>
              <a:rPr lang="en-IN" sz="2800" dirty="0"/>
            </a:br>
            <a:r>
              <a:rPr lang="en-IN" sz="2800" dirty="0"/>
              <a:t>DML  –  Data Manipulation Language</a:t>
            </a:r>
            <a:br>
              <a:rPr lang="en-IN" sz="2800" dirty="0"/>
            </a:br>
            <a:r>
              <a:rPr lang="en-IN" sz="2800" dirty="0"/>
              <a:t>DQL   –  Data Query Language</a:t>
            </a:r>
            <a:br>
              <a:rPr lang="en-IN" sz="2800" dirty="0"/>
            </a:br>
            <a:r>
              <a:rPr lang="en-IN" sz="2800" dirty="0"/>
              <a:t>DCL    –  Data Control Language </a:t>
            </a:r>
            <a:br>
              <a:rPr lang="en-IN" sz="2800" dirty="0"/>
            </a:br>
            <a:r>
              <a:rPr lang="en-IN" sz="2800" dirty="0"/>
              <a:t>DCL    –  Data Control Language</a:t>
            </a:r>
          </a:p>
        </p:txBody>
      </p:sp>
    </p:spTree>
    <p:extLst>
      <p:ext uri="{BB962C8B-B14F-4D97-AF65-F5344CB8AC3E}">
        <p14:creationId xmlns:p14="http://schemas.microsoft.com/office/powerpoint/2010/main" val="28219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3347A-1F0C-BB51-88DE-C3A57922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DDL – Data Definition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981ED-0BD7-6A0D-99B8-9D2E95B28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sz="2800" dirty="0">
                <a:highlight>
                  <a:srgbClr val="008000"/>
                </a:highlight>
              </a:rPr>
              <a:t>Used For : </a:t>
            </a:r>
            <a:r>
              <a:rPr lang="en-US" sz="2800" dirty="0">
                <a:highlight>
                  <a:srgbClr val="008000"/>
                </a:highlight>
              </a:rPr>
              <a:t>Creating and modifying database structures.</a:t>
            </a:r>
          </a:p>
          <a:p>
            <a:pPr marL="0" indent="0">
              <a:buNone/>
            </a:pPr>
            <a:r>
              <a:rPr lang="en-IN" sz="2800" dirty="0">
                <a:highlight>
                  <a:srgbClr val="008000"/>
                </a:highlight>
              </a:rPr>
              <a:t>Common Commands:</a:t>
            </a:r>
            <a:br>
              <a:rPr lang="en-US" sz="2800" dirty="0"/>
            </a:br>
            <a:br>
              <a:rPr lang="en-US" sz="2800" dirty="0"/>
            </a:br>
            <a:r>
              <a:rPr lang="en-US" sz="2800" dirty="0">
                <a:highlight>
                  <a:srgbClr val="FF00FF"/>
                </a:highlight>
              </a:rPr>
              <a:t>CREATE</a:t>
            </a:r>
            <a:r>
              <a:rPr lang="en-US" sz="2800" dirty="0"/>
              <a:t> – Create new table or database</a:t>
            </a:r>
          </a:p>
          <a:p>
            <a:pPr marL="0" indent="0">
              <a:buNone/>
            </a:pPr>
            <a:br>
              <a:rPr lang="en-US" sz="2800" dirty="0"/>
            </a:br>
            <a:r>
              <a:rPr lang="en-IN" sz="2800" dirty="0">
                <a:highlight>
                  <a:srgbClr val="FF00FF"/>
                </a:highlight>
              </a:rPr>
              <a:t>ALTER</a:t>
            </a:r>
            <a:r>
              <a:rPr lang="en-IN" sz="2800" dirty="0"/>
              <a:t> – Modify table structure</a:t>
            </a:r>
          </a:p>
          <a:p>
            <a:pPr marL="0" indent="0">
              <a:buNone/>
            </a:pPr>
            <a:br>
              <a:rPr lang="en-IN" sz="2800" dirty="0"/>
            </a:br>
            <a:r>
              <a:rPr lang="en-US" sz="2800" dirty="0">
                <a:highlight>
                  <a:srgbClr val="FF00FF"/>
                </a:highlight>
              </a:rPr>
              <a:t>DROP</a:t>
            </a:r>
            <a:r>
              <a:rPr lang="en-US" sz="2800" dirty="0"/>
              <a:t> – Delete table or database</a:t>
            </a:r>
          </a:p>
          <a:p>
            <a:pPr marL="0" indent="0">
              <a:buNone/>
            </a:pPr>
            <a:br>
              <a:rPr lang="en-US" sz="2800" dirty="0"/>
            </a:br>
            <a:r>
              <a:rPr lang="en-US" sz="2800" dirty="0">
                <a:highlight>
                  <a:srgbClr val="FF00FF"/>
                </a:highlight>
              </a:rPr>
              <a:t>TRUNCATE</a:t>
            </a:r>
            <a:r>
              <a:rPr lang="en-US" sz="2800" dirty="0"/>
              <a:t> – Delete all data from a table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809475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8D52-BC77-9FD2-3F4E-8922504995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DML – Data Manipulation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EF218E-F621-E85F-558B-8FB35AAD0B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sz="2800" b="1" dirty="0">
                <a:highlight>
                  <a:srgbClr val="008000"/>
                </a:highlight>
              </a:rPr>
              <a:t>Used For:</a:t>
            </a:r>
            <a:r>
              <a:rPr lang="en-IN" sz="2800" dirty="0">
                <a:highlight>
                  <a:srgbClr val="008000"/>
                </a:highlight>
              </a:rPr>
              <a:t> Managing data inside tables.</a:t>
            </a:r>
          </a:p>
          <a:p>
            <a:r>
              <a:rPr lang="en-IN" sz="2800" dirty="0">
                <a:highlight>
                  <a:srgbClr val="008000"/>
                </a:highlight>
              </a:rPr>
              <a:t>Common Commands:</a:t>
            </a:r>
            <a:endParaRPr lang="en-IN" sz="2800" dirty="0"/>
          </a:p>
          <a:p>
            <a:r>
              <a:rPr lang="en-IN" sz="2800" dirty="0">
                <a:highlight>
                  <a:srgbClr val="FF00FF"/>
                </a:highlight>
              </a:rPr>
              <a:t>INSERT</a:t>
            </a:r>
            <a:r>
              <a:rPr lang="en-IN" sz="2800" dirty="0"/>
              <a:t> – Add data</a:t>
            </a:r>
          </a:p>
          <a:p>
            <a:endParaRPr lang="en-IN" sz="2800" dirty="0"/>
          </a:p>
          <a:p>
            <a:r>
              <a:rPr lang="en-IN" sz="2800" dirty="0">
                <a:highlight>
                  <a:srgbClr val="FF00FF"/>
                </a:highlight>
              </a:rPr>
              <a:t>UPDATE</a:t>
            </a:r>
            <a:r>
              <a:rPr lang="en-IN" sz="2800" dirty="0"/>
              <a:t> – Modify data</a:t>
            </a:r>
          </a:p>
          <a:p>
            <a:endParaRPr lang="en-IN" sz="2800" dirty="0"/>
          </a:p>
          <a:p>
            <a:r>
              <a:rPr lang="en-IN" sz="2800" dirty="0">
                <a:highlight>
                  <a:srgbClr val="FF00FF"/>
                </a:highlight>
              </a:rPr>
              <a:t>DELETE</a:t>
            </a:r>
            <a:r>
              <a:rPr lang="en-IN" sz="2800" dirty="0"/>
              <a:t> – Remove data</a:t>
            </a:r>
          </a:p>
        </p:txBody>
      </p:sp>
    </p:spTree>
    <p:extLst>
      <p:ext uri="{BB962C8B-B14F-4D97-AF65-F5344CB8AC3E}">
        <p14:creationId xmlns:p14="http://schemas.microsoft.com/office/powerpoint/2010/main" val="7326214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4CF3F-51A0-AAA1-BF6B-4D7930C82F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DQL – Data Query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DC6AC1-2A6C-235A-1C1B-A99507D0B7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b="1" dirty="0">
                <a:highlight>
                  <a:srgbClr val="008000"/>
                </a:highlight>
              </a:rPr>
              <a:t>Used For:</a:t>
            </a:r>
            <a:r>
              <a:rPr lang="en-US" sz="2800" dirty="0">
                <a:highlight>
                  <a:srgbClr val="008000"/>
                </a:highlight>
              </a:rPr>
              <a:t> Retrieving data from the database.</a:t>
            </a:r>
          </a:p>
          <a:p>
            <a:r>
              <a:rPr lang="en-IN" sz="2800" dirty="0">
                <a:highlight>
                  <a:srgbClr val="008000"/>
                </a:highlight>
              </a:rPr>
              <a:t>Common Commands:</a:t>
            </a:r>
            <a:br>
              <a:rPr lang="en-IN" sz="2800" dirty="0"/>
            </a:br>
            <a:br>
              <a:rPr lang="en-US" sz="2800" dirty="0"/>
            </a:br>
            <a:r>
              <a:rPr lang="en-IN" sz="2800" dirty="0"/>
              <a:t>SELECT – To fetch records from database</a:t>
            </a:r>
          </a:p>
        </p:txBody>
      </p:sp>
    </p:spTree>
    <p:extLst>
      <p:ext uri="{BB962C8B-B14F-4D97-AF65-F5344CB8AC3E}">
        <p14:creationId xmlns:p14="http://schemas.microsoft.com/office/powerpoint/2010/main" val="35533220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12EBD-B798-13EC-452B-206CC3EE4E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DCL – Data Control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AB154-618A-CE70-4F93-EF1F097AA6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>
                <a:highlight>
                  <a:srgbClr val="008000"/>
                </a:highlight>
              </a:rPr>
              <a:t>Used For:</a:t>
            </a:r>
            <a:r>
              <a:rPr lang="en-US" sz="2800" dirty="0">
                <a:highlight>
                  <a:srgbClr val="008000"/>
                </a:highlight>
              </a:rPr>
              <a:t> Managing permissions and access.</a:t>
            </a:r>
          </a:p>
          <a:p>
            <a:r>
              <a:rPr lang="en-IN" sz="2800" dirty="0">
                <a:highlight>
                  <a:srgbClr val="008000"/>
                </a:highlight>
              </a:rPr>
              <a:t>Common Commands:</a:t>
            </a:r>
            <a:br>
              <a:rPr lang="en-IN" sz="2800" dirty="0">
                <a:highlight>
                  <a:srgbClr val="008000"/>
                </a:highlight>
              </a:rPr>
            </a:br>
            <a:br>
              <a:rPr lang="en-IN" sz="2800" dirty="0">
                <a:highlight>
                  <a:srgbClr val="008000"/>
                </a:highlight>
              </a:rPr>
            </a:br>
            <a:endParaRPr lang="en-IN" sz="2800" dirty="0">
              <a:highlight>
                <a:srgbClr val="008000"/>
              </a:highlight>
            </a:endParaRPr>
          </a:p>
          <a:p>
            <a:pPr marL="0" indent="0">
              <a:buNone/>
            </a:pPr>
            <a:br>
              <a:rPr lang="en-US" sz="2800" dirty="0"/>
            </a:br>
            <a:r>
              <a:rPr lang="en-IN" sz="2800" dirty="0">
                <a:highlight>
                  <a:srgbClr val="FF00FF"/>
                </a:highlight>
              </a:rPr>
              <a:t>GRANT</a:t>
            </a:r>
            <a:r>
              <a:rPr lang="en-IN" sz="2800" dirty="0"/>
              <a:t> – Give permission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>
                <a:highlight>
                  <a:srgbClr val="FF00FF"/>
                </a:highlight>
              </a:rPr>
              <a:t>REVOKE</a:t>
            </a:r>
            <a:r>
              <a:rPr lang="en-IN" sz="2800" dirty="0"/>
              <a:t> – Remove permission</a:t>
            </a:r>
            <a:br>
              <a:rPr lang="en-IN" dirty="0">
                <a:highlight>
                  <a:srgbClr val="008000"/>
                </a:highlight>
              </a:rPr>
            </a:br>
            <a:endParaRPr lang="en-IN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90515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14F12-E067-2643-1065-849D2F77A5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TCL – Transaction Control Language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09F54-2F26-6C0A-5A0C-2A6D258357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800" b="1" dirty="0">
                <a:highlight>
                  <a:srgbClr val="008000"/>
                </a:highlight>
              </a:rPr>
              <a:t>Used For:</a:t>
            </a:r>
            <a:r>
              <a:rPr lang="en-US" sz="2800" dirty="0">
                <a:highlight>
                  <a:srgbClr val="008000"/>
                </a:highlight>
              </a:rPr>
              <a:t> Managing transactions (groups of operations).</a:t>
            </a:r>
            <a:br>
              <a:rPr lang="en-US" sz="2800" dirty="0">
                <a:highlight>
                  <a:srgbClr val="008000"/>
                </a:highlight>
              </a:rPr>
            </a:br>
            <a:br>
              <a:rPr lang="en-US" sz="2800" dirty="0">
                <a:highlight>
                  <a:srgbClr val="008000"/>
                </a:highlight>
              </a:rPr>
            </a:br>
            <a:r>
              <a:rPr lang="en-IN" sz="2800" dirty="0">
                <a:highlight>
                  <a:srgbClr val="008000"/>
                </a:highlight>
              </a:rPr>
              <a:t>Common Commands:</a:t>
            </a:r>
            <a:br>
              <a:rPr lang="en-IN" sz="2800" dirty="0"/>
            </a:br>
            <a:br>
              <a:rPr lang="en-IN" sz="2800" dirty="0"/>
            </a:br>
            <a:r>
              <a:rPr lang="en-IN" sz="2800" dirty="0">
                <a:highlight>
                  <a:srgbClr val="FF00FF"/>
                </a:highlight>
              </a:rPr>
              <a:t>COMMIT</a:t>
            </a:r>
            <a:r>
              <a:rPr lang="en-IN" sz="2800" dirty="0"/>
              <a:t> – Save changes</a:t>
            </a:r>
          </a:p>
          <a:p>
            <a:br>
              <a:rPr lang="en-IN" sz="2800" dirty="0"/>
            </a:br>
            <a:r>
              <a:rPr lang="en-IN" sz="2800" dirty="0">
                <a:highlight>
                  <a:srgbClr val="FF00FF"/>
                </a:highlight>
              </a:rPr>
              <a:t>ROLLBACK</a:t>
            </a:r>
            <a:r>
              <a:rPr lang="en-IN" sz="2800" dirty="0"/>
              <a:t> – Undo changes</a:t>
            </a:r>
          </a:p>
          <a:p>
            <a:br>
              <a:rPr lang="en-IN" sz="2800" dirty="0"/>
            </a:br>
            <a:r>
              <a:rPr lang="en-US" sz="2800" dirty="0">
                <a:highlight>
                  <a:srgbClr val="FF00FF"/>
                </a:highlight>
              </a:rPr>
              <a:t>SAVEPOINT</a:t>
            </a:r>
            <a:r>
              <a:rPr lang="en-US" sz="2800" dirty="0"/>
              <a:t> – Set a point to rollback to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1962710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DCEFC-902D-E1BB-95BA-243F87DB6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7647F57-EA1D-1A5A-E440-A08806A04A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5800" y="2331720"/>
            <a:ext cx="10046969" cy="4160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869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BE3BCA5-73A4-EA97-70C9-96256402DA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04" y="451385"/>
            <a:ext cx="4953691" cy="142894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B242DA3-02D6-F982-4145-AE08766EE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604" y="2415441"/>
            <a:ext cx="4953691" cy="140989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51D1BA7-40E8-8F52-2605-2498D35980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04" y="4360445"/>
            <a:ext cx="4953691" cy="167459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A1B6D96-6CBE-4264-4C1B-C4DCF5955B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5189" y="451385"/>
            <a:ext cx="4953691" cy="142894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0976AA0-5875-02B6-B4F4-E5DC09E4625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5190" y="2396389"/>
            <a:ext cx="5081880" cy="142894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A468CF-E725-6EBC-F2AE-09EEBD1FED8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5190" y="4360445"/>
            <a:ext cx="5081880" cy="1674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420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45</TotalTime>
  <Words>387</Words>
  <Application>Microsoft Office PowerPoint</Application>
  <PresentationFormat>Widescreen</PresentationFormat>
  <Paragraphs>55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Celestial</vt:lpstr>
      <vt:lpstr>Database Terms &amp; COMMANDS</vt:lpstr>
      <vt:lpstr>Data</vt:lpstr>
      <vt:lpstr>Database</vt:lpstr>
      <vt:lpstr>DBMS (Database Management System)</vt:lpstr>
      <vt:lpstr>Example:</vt:lpstr>
      <vt:lpstr>Relationship Between the Three:</vt:lpstr>
      <vt:lpstr>Different Languages in MySQL</vt:lpstr>
      <vt:lpstr>DDL – Data Definition Language</vt:lpstr>
      <vt:lpstr>DML – Data Manipulation Language</vt:lpstr>
      <vt:lpstr>DQL – Data Query Language</vt:lpstr>
      <vt:lpstr>DCL – Data Control Language</vt:lpstr>
      <vt:lpstr>TCL – Transaction Control Language</vt:lpstr>
      <vt:lpstr>Summary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Pratibha Bandigani</dc:creator>
  <cp:lastModifiedBy>Pratibha Bandigani</cp:lastModifiedBy>
  <cp:revision>2</cp:revision>
  <dcterms:created xsi:type="dcterms:W3CDTF">2025-09-21T08:22:59Z</dcterms:created>
  <dcterms:modified xsi:type="dcterms:W3CDTF">2025-09-21T09:10:20Z</dcterms:modified>
</cp:coreProperties>
</file>