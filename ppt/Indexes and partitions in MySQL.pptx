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9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08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69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490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79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52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77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79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98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54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687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240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606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788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1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913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99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629C96-087C-452E-9858-4C5510EA2F55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FC73BA1-E73D-49E6-B42D-4BC28ADC6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85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7BD2-81AA-B173-1473-F063C35708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Indexes and partitions in MySQL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AF2BB-DC69-2EDF-EFAB-D69B305E1C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Speeding Up Database Queries</a:t>
            </a:r>
          </a:p>
        </p:txBody>
      </p:sp>
    </p:spTree>
    <p:extLst>
      <p:ext uri="{BB962C8B-B14F-4D97-AF65-F5344CB8AC3E}">
        <p14:creationId xmlns:p14="http://schemas.microsoft.com/office/powerpoint/2010/main" val="142195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A2FC-FEC6-6241-A8B0-B7EE026B4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7098F-8388-5C66-1273-90C164E56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an Index?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data structure</a:t>
            </a:r>
            <a:r>
              <a:rPr lang="en-US" dirty="0"/>
              <a:t> that improves the speed of data retrieval on a database table.</a:t>
            </a:r>
          </a:p>
          <a:p>
            <a:pPr lvl="1"/>
            <a:r>
              <a:rPr lang="en-US" dirty="0"/>
              <a:t>Works like an </a:t>
            </a:r>
            <a:r>
              <a:rPr lang="en-US" b="1" dirty="0"/>
              <a:t>index in a book</a:t>
            </a:r>
            <a:r>
              <a:rPr lang="en-US" dirty="0"/>
              <a:t> — helps find data quickly without scanning every row.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Without index → Search line-by-line in the book.</a:t>
            </a:r>
            <a:br>
              <a:rPr lang="en-US" dirty="0"/>
            </a:br>
            <a:r>
              <a:rPr lang="en-US" dirty="0"/>
              <a:t>With index → Jump directly to the page using the index.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011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F0CD-9B6E-96E6-9793-21EE8F7D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Indexes?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5A466-2DA6-3220-837D-EBC1FD017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dirty="0"/>
              <a:t>✅ Faster SELECT queries</a:t>
            </a:r>
            <a:br>
              <a:rPr lang="en-IN" dirty="0"/>
            </a:br>
            <a:r>
              <a:rPr lang="en-IN" dirty="0"/>
              <a:t>✅ Efficient sorting and filtering (ORDER BY, WHERE)</a:t>
            </a:r>
            <a:br>
              <a:rPr lang="en-IN" dirty="0"/>
            </a:br>
            <a:r>
              <a:rPr lang="en-IN" dirty="0"/>
              <a:t>✅ Helps with JOIN operations</a:t>
            </a:r>
          </a:p>
          <a:p>
            <a:endParaRPr lang="en-IN" dirty="0"/>
          </a:p>
          <a:p>
            <a:r>
              <a:rPr lang="en-IN" dirty="0"/>
              <a:t>⚠️ But remember: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❌ Slower INSERT, UPDATE, DELETE (index maintenance overhead)</a:t>
            </a:r>
            <a:br>
              <a:rPr lang="en-IN" dirty="0"/>
            </a:br>
            <a:r>
              <a:rPr lang="en-IN" dirty="0"/>
              <a:t>❌ Consumes extra disk space</a:t>
            </a:r>
          </a:p>
        </p:txBody>
      </p:sp>
    </p:spTree>
    <p:extLst>
      <p:ext uri="{BB962C8B-B14F-4D97-AF65-F5344CB8AC3E}">
        <p14:creationId xmlns:p14="http://schemas.microsoft.com/office/powerpoint/2010/main" val="242291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38D4-35F7-D83B-FDB1-D7DD4977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Indexes Work Internally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93212-AAC3-51F5-C7F5-EE3E9EE2E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MySQL stores indexes using </a:t>
            </a:r>
            <a:r>
              <a:rPr lang="en-US" b="1" dirty="0"/>
              <a:t>B-tree</a:t>
            </a:r>
            <a:r>
              <a:rPr lang="en-US" dirty="0"/>
              <a:t> (balanced tree) structure for most types.</a:t>
            </a:r>
          </a:p>
          <a:p>
            <a:r>
              <a:rPr lang="en-US" dirty="0"/>
              <a:t>Each node points to data rows.</a:t>
            </a:r>
          </a:p>
          <a:p>
            <a:r>
              <a:rPr lang="en-US" dirty="0"/>
              <a:t>Helps locate rows </a:t>
            </a:r>
            <a:r>
              <a:rPr lang="en-US" b="1" dirty="0"/>
              <a:t>logarithmically</a:t>
            </a:r>
            <a:r>
              <a:rPr lang="en-US" dirty="0"/>
              <a:t> instead of linearly.</a:t>
            </a:r>
          </a:p>
          <a:p>
            <a:r>
              <a:rPr lang="en-US" b="1" dirty="0"/>
              <a:t>Visual:</a:t>
            </a:r>
            <a:br>
              <a:rPr lang="en-US" dirty="0"/>
            </a:br>
            <a:r>
              <a:rPr lang="en-US" dirty="0"/>
              <a:t>Diagram of a B-Tree with root, branch, and leaf nodes showing key lookups.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08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C39F-5ECB-E87D-F951-F90A38C8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Syntax to Create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4764C-DFBD-D0B0-7767-CFC3D2C61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create an index on one or more columns.</a:t>
            </a:r>
          </a:p>
          <a:p>
            <a:r>
              <a:rPr lang="en-US" dirty="0"/>
              <a:t>CREATE INDEX </a:t>
            </a:r>
            <a:r>
              <a:rPr lang="en-US" dirty="0" err="1"/>
              <a:t>idx_name</a:t>
            </a:r>
            <a:r>
              <a:rPr lang="en-US" dirty="0"/>
              <a:t> ON employees(name);</a:t>
            </a:r>
          </a:p>
          <a:p>
            <a:r>
              <a:rPr lang="en-IN" dirty="0"/>
              <a:t>CREATE UNIQUE INDEX </a:t>
            </a:r>
            <a:r>
              <a:rPr lang="en-IN" dirty="0" err="1"/>
              <a:t>idx_email</a:t>
            </a:r>
            <a:r>
              <a:rPr lang="en-IN" dirty="0"/>
              <a:t> ON users(email);</a:t>
            </a:r>
          </a:p>
          <a:p>
            <a:r>
              <a:rPr lang="en-US" dirty="0"/>
              <a:t>CREATE INDEX </a:t>
            </a:r>
            <a:r>
              <a:rPr lang="en-US" dirty="0" err="1"/>
              <a:t>idx_name_dept</a:t>
            </a:r>
            <a:r>
              <a:rPr lang="en-US" dirty="0"/>
              <a:t> ON employees(name, department);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848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6B1A-2158-3641-A19E-D7242CF1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Indexes in MySQL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86DCE9-CD0B-EC1F-818C-E06C931EAA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912618"/>
              </p:ext>
            </p:extLst>
          </p:nvPr>
        </p:nvGraphicFramePr>
        <p:xfrm>
          <a:off x="838200" y="2011680"/>
          <a:ext cx="9917430" cy="3794760"/>
        </p:xfrm>
        <a:graphic>
          <a:graphicData uri="http://schemas.openxmlformats.org/drawingml/2006/table">
            <a:tbl>
              <a:tblPr/>
              <a:tblGrid>
                <a:gridCol w="3305810">
                  <a:extLst>
                    <a:ext uri="{9D8B030D-6E8A-4147-A177-3AD203B41FA5}">
                      <a16:colId xmlns:a16="http://schemas.microsoft.com/office/drawing/2014/main" val="3217143686"/>
                    </a:ext>
                  </a:extLst>
                </a:gridCol>
                <a:gridCol w="3305810">
                  <a:extLst>
                    <a:ext uri="{9D8B030D-6E8A-4147-A177-3AD203B41FA5}">
                      <a16:colId xmlns:a16="http://schemas.microsoft.com/office/drawing/2014/main" val="1540314675"/>
                    </a:ext>
                  </a:extLst>
                </a:gridCol>
                <a:gridCol w="3305810">
                  <a:extLst>
                    <a:ext uri="{9D8B030D-6E8A-4147-A177-3AD203B41FA5}">
                      <a16:colId xmlns:a16="http://schemas.microsoft.com/office/drawing/2014/main" val="2660234855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Index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592397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identifier for each 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PRIMARY KEY(id)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718665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Ensures no duplicate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UNIQUE(email)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065953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INDEX (Normal)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Speeds up searches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INDEX(name)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924258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 searching text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FULLTEXT(content)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374952"/>
                  </a:ext>
                </a:extLst>
              </a:tr>
              <a:tr h="632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SPATIAL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 geographic/spatial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SPATIAL(location)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496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49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10B1-98DD-4240-2907-BB771D1B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and Removing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74F7A-9702-1B12-77F1-20481D66C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SHOW INDEX FROM employees;</a:t>
            </a:r>
          </a:p>
          <a:p>
            <a:r>
              <a:rPr lang="en-US" dirty="0"/>
              <a:t>DROP INDEX </a:t>
            </a:r>
            <a:r>
              <a:rPr lang="en-US" dirty="0" err="1"/>
              <a:t>idx_name</a:t>
            </a:r>
            <a:r>
              <a:rPr lang="en-US" dirty="0"/>
              <a:t> ON employees;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035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D313-9D6C-417F-8AE4-27E89157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55213-320B-85C1-27C9-54293A7B8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Index columns used in WHERE, JOIN, ORDER BY</a:t>
            </a:r>
            <a:br>
              <a:rPr lang="en-US" dirty="0"/>
            </a:br>
            <a:r>
              <a:rPr lang="en-US" dirty="0"/>
              <a:t>✅ Use composite indexes wisely</a:t>
            </a:r>
            <a:br>
              <a:rPr lang="en-US" dirty="0"/>
            </a:br>
            <a:r>
              <a:rPr lang="en-US" dirty="0"/>
              <a:t>✅ Don’t over-index — it slows down writes</a:t>
            </a:r>
            <a:br>
              <a:rPr lang="en-US" dirty="0"/>
            </a:br>
            <a:r>
              <a:rPr lang="en-US" dirty="0"/>
              <a:t>✅ Analyze query performance using: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25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FFA68-B6F4-2D9F-42A6-43FD439A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B014D-8577-4D5B-CB07-8C7AE54F9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E-commerce app</a:t>
            </a:r>
            <a:r>
              <a:rPr lang="en-US" dirty="0"/>
              <a:t> searches products by category &amp; price.</a:t>
            </a:r>
          </a:p>
          <a:p>
            <a:endParaRPr lang="en-US" dirty="0"/>
          </a:p>
          <a:p>
            <a:r>
              <a:rPr lang="en-US" dirty="0"/>
              <a:t>SELECT * FROM products</a:t>
            </a:r>
          </a:p>
          <a:p>
            <a:r>
              <a:rPr lang="en-US" dirty="0"/>
              <a:t>WHERE category = 'Electronics' AND price &lt; 1000;</a:t>
            </a:r>
          </a:p>
          <a:p>
            <a:endParaRPr lang="en-US" dirty="0"/>
          </a:p>
          <a:p>
            <a:r>
              <a:rPr lang="en-US" dirty="0"/>
              <a:t>CREATE INDEX </a:t>
            </a:r>
            <a:r>
              <a:rPr lang="en-US" dirty="0" err="1"/>
              <a:t>idx_category_price</a:t>
            </a:r>
            <a:r>
              <a:rPr lang="en-US" dirty="0"/>
              <a:t> ON products(category, price);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540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94A9-AEE2-DF63-BE8B-0D8E8DF1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0F3F0A-CFBB-CC2E-E0CF-31D84FD38E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8210" y="2036942"/>
            <a:ext cx="798576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Indexes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types for different needs (Primary, Unique,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 careful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write-heavy tables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indexing can slow inserts.</a:t>
            </a:r>
          </a:p>
        </p:txBody>
      </p:sp>
    </p:spTree>
    <p:extLst>
      <p:ext uri="{BB962C8B-B14F-4D97-AF65-F5344CB8AC3E}">
        <p14:creationId xmlns:p14="http://schemas.microsoft.com/office/powerpoint/2010/main" val="194177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37AB-EA2F-CA66-AACC-5D27C4336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Partitions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5C524-A08A-FD39-7192-994360B68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Managing Large Tables Efficiently</a:t>
            </a:r>
          </a:p>
        </p:txBody>
      </p:sp>
    </p:spTree>
    <p:extLst>
      <p:ext uri="{BB962C8B-B14F-4D97-AF65-F5344CB8AC3E}">
        <p14:creationId xmlns:p14="http://schemas.microsoft.com/office/powerpoint/2010/main" val="3126729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8DA9-4D17-EB48-EC77-D80EC66EE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Partitioning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9F7DC9-142A-602B-1019-B3079C828B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765" y="1540922"/>
            <a:ext cx="979627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Partitioning is the process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dividing a large table into smaller, more manageable pieces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partitions together act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logical 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Analogy:</a:t>
            </a:r>
            <a:br>
              <a:rPr lang="en-US" sz="1800" dirty="0"/>
            </a:br>
            <a:r>
              <a:rPr lang="en-US" sz="1800" dirty="0"/>
              <a:t>Think of partitioning like dividing a </a:t>
            </a:r>
            <a:r>
              <a:rPr lang="en-US" sz="1800" b="1" dirty="0"/>
              <a:t>big book</a:t>
            </a:r>
            <a:r>
              <a:rPr lang="en-US" sz="1800" dirty="0"/>
              <a:t> into </a:t>
            </a:r>
            <a:r>
              <a:rPr lang="en-US" sz="1800" b="1" dirty="0"/>
              <a:t>chapters</a:t>
            </a:r>
            <a:r>
              <a:rPr lang="en-US" sz="1800" dirty="0"/>
              <a:t> — easier to read and maintain.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675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F5D04-2C7E-E739-B16E-023280613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Partitioning?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D1B8-5C9F-D7D8-51E3-151CEC683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Content: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Improves Query Performance</a:t>
            </a:r>
            <a:r>
              <a:rPr lang="en-IN" dirty="0"/>
              <a:t> — only relevant partitions are scanned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Easier Maintenance</a:t>
            </a:r>
            <a:r>
              <a:rPr lang="en-IN" dirty="0"/>
              <a:t> — can archive or drop old data quickly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Load Balancing</a:t>
            </a:r>
            <a:r>
              <a:rPr lang="en-IN" dirty="0"/>
              <a:t> — partitions can be stored across different disks</a:t>
            </a:r>
            <a:br>
              <a:rPr lang="en-IN" dirty="0"/>
            </a:br>
            <a:r>
              <a:rPr lang="en-IN" dirty="0"/>
              <a:t>✅ </a:t>
            </a:r>
            <a:r>
              <a:rPr lang="en-IN" b="1" dirty="0"/>
              <a:t>Efficient Data Management</a:t>
            </a:r>
            <a:r>
              <a:rPr lang="en-IN" dirty="0"/>
              <a:t> — handle billions of rows smoothly</a:t>
            </a:r>
          </a:p>
        </p:txBody>
      </p:sp>
    </p:spTree>
    <p:extLst>
      <p:ext uri="{BB962C8B-B14F-4D97-AF65-F5344CB8AC3E}">
        <p14:creationId xmlns:p14="http://schemas.microsoft.com/office/powerpoint/2010/main" val="1955816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D33A9-8528-A616-BB22-1713921B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614A1-C52C-58BB-E00A-1315CA206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Scenario:</a:t>
            </a:r>
            <a:br>
              <a:rPr lang="en-US" dirty="0"/>
            </a:br>
            <a:r>
              <a:rPr lang="en-US" dirty="0"/>
              <a:t>A sales table with millions of records can be partitioned by year to speed up queries.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781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90D8-62E8-C889-5640-38372181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Partitioning in MySQL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6B228-0A24-781E-97FB-7BE977D5C1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297430"/>
          <a:ext cx="10353675" cy="2743200"/>
        </p:xfrm>
        <a:graphic>
          <a:graphicData uri="http://schemas.openxmlformats.org/drawingml/2006/table">
            <a:tbl>
              <a:tblPr/>
              <a:tblGrid>
                <a:gridCol w="3451225">
                  <a:extLst>
                    <a:ext uri="{9D8B030D-6E8A-4147-A177-3AD203B41FA5}">
                      <a16:colId xmlns:a16="http://schemas.microsoft.com/office/drawing/2014/main" val="1928245037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2170223137"/>
                    </a:ext>
                  </a:extLst>
                </a:gridCol>
                <a:gridCol w="3451225">
                  <a:extLst>
                    <a:ext uri="{9D8B030D-6E8A-4147-A177-3AD203B41FA5}">
                      <a16:colId xmlns:a16="http://schemas.microsoft.com/office/drawing/2014/main" val="1617388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Partition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Column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471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RANGE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Based on ranges of column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YEAR(order_date)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513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LIST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Based on a list of specific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region_id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454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HASH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Based on a hash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customer_id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435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Similar to HASH but system-managed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PRIMARY KEY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64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COLUMNS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Range/List partitioning on multiple columns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(year, month)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91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130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08D59-05FB-4752-3AA3-8C7E7CA33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RANGE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25304-FB6E-01F7-6C24-5220CEA3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Splits data into partitions based on </a:t>
            </a:r>
            <a:r>
              <a:rPr lang="en-US" b="1" dirty="0"/>
              <a:t>ranges of values</a:t>
            </a:r>
            <a:r>
              <a:rPr lang="en-US" dirty="0"/>
              <a:t>.</a:t>
            </a:r>
          </a:p>
          <a:p>
            <a:r>
              <a:rPr lang="en-US" dirty="0"/>
              <a:t>Very common for date-based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911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BC13B-BC8A-3FE4-FEBD-D5D02B4FE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355" y="998784"/>
            <a:ext cx="10353762" cy="369513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CREATE TABLE sales (</a:t>
            </a:r>
          </a:p>
          <a:p>
            <a:r>
              <a:rPr lang="en-US" dirty="0"/>
              <a:t>  id INT,</a:t>
            </a:r>
          </a:p>
          <a:p>
            <a:r>
              <a:rPr lang="en-US" dirty="0"/>
              <a:t>  </a:t>
            </a:r>
            <a:r>
              <a:rPr lang="en-US" dirty="0" err="1"/>
              <a:t>order_date</a:t>
            </a:r>
            <a:r>
              <a:rPr lang="en-US" dirty="0"/>
              <a:t> DATE,</a:t>
            </a:r>
          </a:p>
          <a:p>
            <a:r>
              <a:rPr lang="en-US" dirty="0"/>
              <a:t>  amount DECIMAL(10,2)</a:t>
            </a:r>
          </a:p>
          <a:p>
            <a:r>
              <a:rPr lang="en-US" dirty="0"/>
              <a:t>)</a:t>
            </a:r>
          </a:p>
          <a:p>
            <a:r>
              <a:rPr lang="en-US" dirty="0"/>
              <a:t>PARTITION BY RANGE (YEAR(</a:t>
            </a:r>
            <a:r>
              <a:rPr lang="en-US" dirty="0" err="1"/>
              <a:t>order_date</a:t>
            </a:r>
            <a:r>
              <a:rPr lang="en-US" dirty="0"/>
              <a:t>)) (</a:t>
            </a:r>
          </a:p>
          <a:p>
            <a:r>
              <a:rPr lang="en-US" dirty="0"/>
              <a:t>  PARTITION p2019 VALUES LESS THAN (2020),</a:t>
            </a:r>
          </a:p>
          <a:p>
            <a:r>
              <a:rPr lang="en-US" dirty="0"/>
              <a:t>  PARTITION p2020 VALUES LESS THAN (2021),</a:t>
            </a:r>
          </a:p>
          <a:p>
            <a:r>
              <a:rPr lang="en-US" dirty="0"/>
              <a:t>  PARTITION p2021 VALUES LESS THAN (2022),</a:t>
            </a:r>
          </a:p>
          <a:p>
            <a:r>
              <a:rPr lang="en-US" dirty="0"/>
              <a:t>  PARTITION </a:t>
            </a:r>
            <a:r>
              <a:rPr lang="en-US" dirty="0" err="1"/>
              <a:t>pmax</a:t>
            </a:r>
            <a:r>
              <a:rPr lang="en-US" dirty="0"/>
              <a:t> VALUES LESS THAN MAXVALUE</a:t>
            </a:r>
          </a:p>
          <a:p>
            <a:r>
              <a:rPr lang="en-US" dirty="0"/>
              <a:t>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9E260-DBAA-22F2-06C1-AFAE4B06DFC7}"/>
              </a:ext>
            </a:extLst>
          </p:cNvPr>
          <p:cNvSpPr txBox="1"/>
          <p:nvPr/>
        </p:nvSpPr>
        <p:spPr>
          <a:xfrm>
            <a:off x="5271741" y="4290536"/>
            <a:ext cx="60979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Explanation: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Rows with </a:t>
            </a:r>
            <a:r>
              <a:rPr lang="en-US" dirty="0" err="1">
                <a:latin typeface="Courier New" panose="02070309020205020404" pitchFamily="49" charset="0"/>
              </a:rPr>
              <a:t>order_date</a:t>
            </a:r>
            <a:r>
              <a:rPr lang="en-US" dirty="0"/>
              <a:t> in 2019 → go to partition </a:t>
            </a:r>
            <a:r>
              <a:rPr lang="en-US" dirty="0">
                <a:latin typeface="Courier New" panose="02070309020205020404" pitchFamily="49" charset="0"/>
              </a:rPr>
              <a:t>p2019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Rows in 2020 → go to </a:t>
            </a:r>
            <a:r>
              <a:rPr lang="en-US" dirty="0">
                <a:latin typeface="Courier New" panose="02070309020205020404" pitchFamily="49" charset="0"/>
              </a:rPr>
              <a:t>p2020</a:t>
            </a:r>
            <a:r>
              <a:rPr lang="en-US" dirty="0"/>
              <a:t>, etc.</a:t>
            </a:r>
          </a:p>
          <a:p>
            <a:pPr>
              <a:buNone/>
            </a:pPr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For time-based data (e.g., logs, sales records).</a:t>
            </a:r>
          </a:p>
        </p:txBody>
      </p:sp>
    </p:spTree>
    <p:extLst>
      <p:ext uri="{BB962C8B-B14F-4D97-AF65-F5344CB8AC3E}">
        <p14:creationId xmlns:p14="http://schemas.microsoft.com/office/powerpoint/2010/main" val="2064080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5C97-6543-EF29-A2F1-0B4C44E6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683A4-D3FC-0623-712C-8EDAA5853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Each partition stores </a:t>
            </a:r>
            <a:r>
              <a:rPr lang="en-US" b="1" dirty="0"/>
              <a:t>specific, predefined values</a:t>
            </a:r>
            <a:r>
              <a:rPr lang="en-US" dirty="0"/>
              <a:t>.</a:t>
            </a:r>
          </a:p>
          <a:p>
            <a:r>
              <a:rPr lang="en-US" dirty="0"/>
              <a:t>Good for categorical data like region or department.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9740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6FBF-240A-8372-58BF-B733A313A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015" y="381564"/>
            <a:ext cx="10353762" cy="3695136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CREATE TABLE employees (</a:t>
            </a:r>
          </a:p>
          <a:p>
            <a:r>
              <a:rPr lang="en-IN" dirty="0"/>
              <a:t>  </a:t>
            </a:r>
            <a:r>
              <a:rPr lang="en-IN" dirty="0" err="1"/>
              <a:t>emp_id</a:t>
            </a:r>
            <a:r>
              <a:rPr lang="en-IN" dirty="0"/>
              <a:t> INT,</a:t>
            </a:r>
          </a:p>
          <a:p>
            <a:r>
              <a:rPr lang="en-IN" dirty="0"/>
              <a:t>  name VARCHAR(50),</a:t>
            </a:r>
          </a:p>
          <a:p>
            <a:r>
              <a:rPr lang="en-IN" dirty="0"/>
              <a:t>  region VARCHAR(20)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PARTITION BY LIST COLUMNS (region) (</a:t>
            </a:r>
          </a:p>
          <a:p>
            <a:r>
              <a:rPr lang="en-IN" dirty="0"/>
              <a:t>  PARTITION </a:t>
            </a:r>
            <a:r>
              <a:rPr lang="en-IN" dirty="0" err="1"/>
              <a:t>p_north</a:t>
            </a:r>
            <a:r>
              <a:rPr lang="en-IN" dirty="0"/>
              <a:t> VALUES IN ('NORTH', 'NE'),</a:t>
            </a:r>
          </a:p>
          <a:p>
            <a:r>
              <a:rPr lang="en-IN" dirty="0"/>
              <a:t>  PARTITION </a:t>
            </a:r>
            <a:r>
              <a:rPr lang="en-IN" dirty="0" err="1"/>
              <a:t>p_south</a:t>
            </a:r>
            <a:r>
              <a:rPr lang="en-IN" dirty="0"/>
              <a:t> VALUES IN ('SOUTH', 'SE'),</a:t>
            </a:r>
          </a:p>
          <a:p>
            <a:r>
              <a:rPr lang="en-IN" dirty="0"/>
              <a:t>  PARTITION </a:t>
            </a:r>
            <a:r>
              <a:rPr lang="en-IN" dirty="0" err="1"/>
              <a:t>p_west</a:t>
            </a:r>
            <a:r>
              <a:rPr lang="en-IN" dirty="0"/>
              <a:t>  VALUES IN ('WEST', 'NW'),</a:t>
            </a:r>
          </a:p>
          <a:p>
            <a:r>
              <a:rPr lang="en-IN" dirty="0"/>
              <a:t>  PARTITION </a:t>
            </a:r>
            <a:r>
              <a:rPr lang="en-IN" dirty="0" err="1"/>
              <a:t>p_east</a:t>
            </a:r>
            <a:r>
              <a:rPr lang="en-IN" dirty="0"/>
              <a:t>  VALUES IN ('EAST', 'NE')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F92BB-9CC6-D81D-0197-5DF2B132AF56}"/>
              </a:ext>
            </a:extLst>
          </p:cNvPr>
          <p:cNvSpPr txBox="1"/>
          <p:nvPr/>
        </p:nvSpPr>
        <p:spPr>
          <a:xfrm>
            <a:off x="388015" y="4751070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Explanation: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Employee from </a:t>
            </a:r>
            <a:r>
              <a:rPr lang="en-US" dirty="0">
                <a:latin typeface="Courier New" panose="02070309020205020404" pitchFamily="49" charset="0"/>
              </a:rPr>
              <a:t>SOUTH</a:t>
            </a:r>
            <a:r>
              <a:rPr lang="en-US" dirty="0"/>
              <a:t> region → stored in </a:t>
            </a:r>
            <a:r>
              <a:rPr lang="en-US" dirty="0" err="1">
                <a:latin typeface="Courier New" panose="02070309020205020404" pitchFamily="49" charset="0"/>
              </a:rPr>
              <a:t>p_south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NORTH</a:t>
            </a:r>
            <a:r>
              <a:rPr lang="en-US" dirty="0"/>
              <a:t> → stored in </a:t>
            </a:r>
            <a:r>
              <a:rPr lang="en-US" dirty="0" err="1">
                <a:latin typeface="Courier New" panose="02070309020205020404" pitchFamily="49" charset="0"/>
              </a:rPr>
              <a:t>p_north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38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6596-8EB4-6E81-91F7-243ADABB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Querying Partitioned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0DA8A-8698-4500-79DD-E7D43EBFD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* FROM sales WHERE </a:t>
            </a:r>
            <a:r>
              <a:rPr lang="en-US" dirty="0" err="1"/>
              <a:t>order_date</a:t>
            </a:r>
            <a:r>
              <a:rPr lang="en-US" dirty="0"/>
              <a:t> BETWEEN '2020-01-01' AND '2020-12-31';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017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E6D49-2496-9E40-8757-1E87AEF6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Partitions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497007-D347-0993-9FA9-0043A65BAF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8054" y="2072080"/>
          <a:ext cx="10206366" cy="3742540"/>
        </p:xfrm>
        <a:graphic>
          <a:graphicData uri="http://schemas.openxmlformats.org/drawingml/2006/table">
            <a:tbl>
              <a:tblPr/>
              <a:tblGrid>
                <a:gridCol w="3402122">
                  <a:extLst>
                    <a:ext uri="{9D8B030D-6E8A-4147-A177-3AD203B41FA5}">
                      <a16:colId xmlns:a16="http://schemas.microsoft.com/office/drawing/2014/main" val="3303369388"/>
                    </a:ext>
                  </a:extLst>
                </a:gridCol>
                <a:gridCol w="3402122">
                  <a:extLst>
                    <a:ext uri="{9D8B030D-6E8A-4147-A177-3AD203B41FA5}">
                      <a16:colId xmlns:a16="http://schemas.microsoft.com/office/drawing/2014/main" val="3456143713"/>
                    </a:ext>
                  </a:extLst>
                </a:gridCol>
                <a:gridCol w="3402122">
                  <a:extLst>
                    <a:ext uri="{9D8B030D-6E8A-4147-A177-3AD203B41FA5}">
                      <a16:colId xmlns:a16="http://schemas.microsoft.com/office/drawing/2014/main" val="3097708104"/>
                    </a:ext>
                  </a:extLst>
                </a:gridCol>
              </a:tblGrid>
              <a:tr h="360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Action</a:t>
                      </a:r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Syntax</a:t>
                      </a:r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Description</a:t>
                      </a:r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477424"/>
                  </a:ext>
                </a:extLst>
              </a:tr>
              <a:tr h="1171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Add partition</a:t>
                      </a:r>
                      <a:endParaRPr lang="en-IN" sz="1800"/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ALTER TABLE sales ADD PARTITION (PARTITION p2022 VALUES LESS THAN (2023));</a:t>
                      </a:r>
                      <a:endParaRPr lang="en-US" sz="1800"/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Add new partition</a:t>
                      </a:r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696783"/>
                  </a:ext>
                </a:extLst>
              </a:tr>
              <a:tr h="630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Drop partition</a:t>
                      </a:r>
                      <a:endParaRPr lang="en-IN" sz="1800"/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ALTER TABLE sales DROP PARTITION p2019;</a:t>
                      </a:r>
                      <a:endParaRPr lang="en-IN" sz="1800"/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Remove old data</a:t>
                      </a:r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754494"/>
                  </a:ext>
                </a:extLst>
              </a:tr>
              <a:tr h="901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Reorganize partitions</a:t>
                      </a:r>
                      <a:endParaRPr lang="en-IN" sz="1800"/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ALTER TABLE sales REORGANIZE PARTITION p2020 INTO (...)</a:t>
                      </a:r>
                      <a:endParaRPr lang="en-US" sz="1800"/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Merge/split partitions</a:t>
                      </a:r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015545"/>
                  </a:ext>
                </a:extLst>
              </a:tr>
              <a:tr h="630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Check partitions</a:t>
                      </a:r>
                      <a:endParaRPr lang="en-IN" sz="1800"/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SHOW CREATE TABLE sales;</a:t>
                      </a:r>
                      <a:endParaRPr lang="en-IN" sz="1800"/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See partition definitions</a:t>
                      </a:r>
                    </a:p>
                  </a:txBody>
                  <a:tcPr marL="90139" marR="90139" marT="45070" marB="450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733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028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032E-1735-8E11-B143-DB6B02D0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— Real-World Use Case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18E4A6-7C65-2949-1CE2-0EDCDF828E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785879"/>
            <a:ext cx="5858976" cy="2315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manage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millions of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US" sz="1800" b="1" dirty="0" err="1"/>
              <a:t>Benefits</a:t>
            </a:r>
            <a:r>
              <a:rPr lang="en-US" sz="1800" b="1" dirty="0"/>
              <a:t>:</a:t>
            </a:r>
            <a:endParaRPr lang="en-US" sz="1800" dirty="0"/>
          </a:p>
          <a:p>
            <a:r>
              <a:rPr lang="en-US" sz="1800" dirty="0"/>
              <a:t>Querying last year’s data only scans one partition.</a:t>
            </a:r>
          </a:p>
          <a:p>
            <a:r>
              <a:rPr lang="en-US" sz="1800" dirty="0"/>
              <a:t>Easy to drop old years with: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Queries mostly filter by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order_date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900" dirty="0"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effectLst/>
                <a:latin typeface="Arial" panose="020B0604020202020204" pitchFamily="34" charset="0"/>
              </a:rPr>
              <a:t>ALTER TABLE sales DROP PARTITION p2018;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207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5D9E-BDD6-0975-5162-70977045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87139-096F-B81A-C3E2-90BC56E67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Content:</a:t>
            </a:r>
            <a:br>
              <a:rPr lang="en-IN" dirty="0"/>
            </a:br>
            <a:r>
              <a:rPr lang="en-IN" dirty="0"/>
              <a:t>🚀 </a:t>
            </a:r>
            <a:r>
              <a:rPr lang="en-IN" b="1" dirty="0"/>
              <a:t>Faster queries</a:t>
            </a:r>
            <a:r>
              <a:rPr lang="en-IN" dirty="0"/>
              <a:t> → scans smaller data sets</a:t>
            </a:r>
            <a:br>
              <a:rPr lang="en-IN" dirty="0"/>
            </a:br>
            <a:r>
              <a:rPr lang="en-IN" dirty="0"/>
              <a:t>🧩 </a:t>
            </a:r>
            <a:r>
              <a:rPr lang="en-IN" b="1" dirty="0"/>
              <a:t>Easier backups</a:t>
            </a:r>
            <a:r>
              <a:rPr lang="en-IN" dirty="0"/>
              <a:t> → export one partition</a:t>
            </a:r>
            <a:br>
              <a:rPr lang="en-IN" dirty="0"/>
            </a:br>
            <a:r>
              <a:rPr lang="en-IN" dirty="0"/>
              <a:t>🧹 </a:t>
            </a:r>
            <a:r>
              <a:rPr lang="en-IN" b="1" dirty="0"/>
              <a:t>Simpler maintenance</a:t>
            </a:r>
            <a:r>
              <a:rPr lang="en-IN" dirty="0"/>
              <a:t> → remove old data easily</a:t>
            </a:r>
            <a:br>
              <a:rPr lang="en-IN" dirty="0"/>
            </a:br>
            <a:r>
              <a:rPr lang="en-IN" dirty="0"/>
              <a:t>💾 </a:t>
            </a:r>
            <a:r>
              <a:rPr lang="en-IN" b="1" dirty="0"/>
              <a:t>Optimized storage</a:t>
            </a:r>
            <a:r>
              <a:rPr lang="en-IN" dirty="0"/>
              <a:t> → store partitions on different disks</a:t>
            </a:r>
          </a:p>
        </p:txBody>
      </p:sp>
    </p:spTree>
    <p:extLst>
      <p:ext uri="{BB962C8B-B14F-4D97-AF65-F5344CB8AC3E}">
        <p14:creationId xmlns:p14="http://schemas.microsoft.com/office/powerpoint/2010/main" val="2403961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4F58-32F2-C603-E37D-631148A9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of Partitioning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4C63-8F48-4742-B194-12991D08E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Content:</a:t>
            </a:r>
            <a:br>
              <a:rPr lang="en-US" dirty="0"/>
            </a:br>
            <a:r>
              <a:rPr lang="en-US" dirty="0"/>
              <a:t>⚠️ Limitations:</a:t>
            </a:r>
          </a:p>
          <a:p>
            <a:r>
              <a:rPr lang="en-US" dirty="0"/>
              <a:t>Max partitions (MySQL 8.0) = 8192</a:t>
            </a:r>
          </a:p>
          <a:p>
            <a:r>
              <a:rPr lang="en-US" dirty="0"/>
              <a:t>All partitions must use the same </a:t>
            </a:r>
            <a:r>
              <a:rPr lang="en-US" b="1" dirty="0"/>
              <a:t>storage engine</a:t>
            </a:r>
            <a:endParaRPr lang="en-US" dirty="0"/>
          </a:p>
          <a:p>
            <a:r>
              <a:rPr lang="en-US" dirty="0"/>
              <a:t>Indexes are </a:t>
            </a:r>
            <a:r>
              <a:rPr lang="en-US" b="1" dirty="0"/>
              <a:t>local</a:t>
            </a:r>
            <a:r>
              <a:rPr lang="en-US" dirty="0"/>
              <a:t> to partitions</a:t>
            </a:r>
          </a:p>
          <a:p>
            <a:r>
              <a:rPr lang="en-US" dirty="0"/>
              <a:t>Not all data types are allowed in partitioning keys</a:t>
            </a:r>
          </a:p>
          <a:p>
            <a:r>
              <a:rPr lang="en-US" b="1" dirty="0"/>
              <a:t>Tip:</a:t>
            </a:r>
            <a:br>
              <a:rPr lang="en-US" dirty="0"/>
            </a:br>
            <a:r>
              <a:rPr lang="en-US" dirty="0"/>
              <a:t>Choose partition keys that match your </a:t>
            </a:r>
            <a:r>
              <a:rPr lang="en-US" b="1" dirty="0"/>
              <a:t>most common WHERE filters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25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A5BF-97BA-C02D-876D-7E30AF365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0CF7EE-5328-D27C-55F3-3C7E806AD9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389362"/>
            <a:ext cx="930735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Partitioning splits big tables into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smaller, faster parts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Types: RANGE, LIST, HASH, KEY, COLUMNS.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type based on your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pattern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 for performance &amp; maintenance on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42898119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24</TotalTime>
  <Words>1115</Words>
  <Application>Microsoft Office PowerPoint</Application>
  <PresentationFormat>Widescreen</PresentationFormat>
  <Paragraphs>173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Unicode MS</vt:lpstr>
      <vt:lpstr>Corbel</vt:lpstr>
      <vt:lpstr>Courier New</vt:lpstr>
      <vt:lpstr>Parallax</vt:lpstr>
      <vt:lpstr>Indexes and partitions in MySQL</vt:lpstr>
      <vt:lpstr>Introduction to Indexing</vt:lpstr>
      <vt:lpstr>Why Use Indexes?</vt:lpstr>
      <vt:lpstr>How Indexes Work Internally</vt:lpstr>
      <vt:lpstr>Syntax to Create Index</vt:lpstr>
      <vt:lpstr>Types of Indexes in MySQL</vt:lpstr>
      <vt:lpstr>Viewing and Removing Indexes</vt:lpstr>
      <vt:lpstr>Best Practices</vt:lpstr>
      <vt:lpstr>Real-World Example</vt:lpstr>
      <vt:lpstr>Summary</vt:lpstr>
      <vt:lpstr>Partitions in MySQL</vt:lpstr>
      <vt:lpstr>Introduction to Partitioning</vt:lpstr>
      <vt:lpstr>Why Use Partitioning?</vt:lpstr>
      <vt:lpstr>PowerPoint Presentation</vt:lpstr>
      <vt:lpstr>Types of Partitioning in MySQL</vt:lpstr>
      <vt:lpstr>RANGE Partitioning</vt:lpstr>
      <vt:lpstr>PowerPoint Presentation</vt:lpstr>
      <vt:lpstr>LIST Partitioning</vt:lpstr>
      <vt:lpstr>PowerPoint Presentation</vt:lpstr>
      <vt:lpstr>Querying Partitioned Tables</vt:lpstr>
      <vt:lpstr>Managing Partitions</vt:lpstr>
      <vt:lpstr>Example — Real-World Use Case</vt:lpstr>
      <vt:lpstr>Performance Advantages</vt:lpstr>
      <vt:lpstr>Limitations of Partitioning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 Bandigani</dc:creator>
  <cp:lastModifiedBy>Pratibha Bandigani</cp:lastModifiedBy>
  <cp:revision>1</cp:revision>
  <dcterms:created xsi:type="dcterms:W3CDTF">2025-10-27T16:25:13Z</dcterms:created>
  <dcterms:modified xsi:type="dcterms:W3CDTF">2025-10-27T16:49:17Z</dcterms:modified>
</cp:coreProperties>
</file>